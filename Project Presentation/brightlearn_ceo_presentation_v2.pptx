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(R'000)</c:v>
                </c:pt>
              </c:strCache>
            </c:strRef>
          </c:tx>
          <c:spPr>
            <a:solidFill>
              <a:srgbClr val="0A7C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</c:v>
                </c:pt>
                <c:pt idx="1">
                  <c:v>78</c:v>
                </c:pt>
                <c:pt idx="2">
                  <c:v>95</c:v>
                </c:pt>
                <c:pt idx="3">
                  <c:v>102</c:v>
                </c:pt>
                <c:pt idx="4">
                  <c:v>110</c:v>
                </c:pt>
                <c:pt idx="5">
                  <c:v>118</c:v>
                </c:pt>
                <c:pt idx="6">
                  <c:v>128</c:v>
                </c:pt>
                <c:pt idx="7">
                  <c:v>115</c:v>
                </c:pt>
                <c:pt idx="8">
                  <c:v>105</c:v>
                </c:pt>
                <c:pt idx="9">
                  <c:v>98</c:v>
                </c:pt>
                <c:pt idx="10">
                  <c:v>108</c:v>
                </c:pt>
                <c:pt idx="11">
                  <c:v>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"/>
        </c:scaling>
        <c:delete val="0"/>
        <c:axPos val="l"/>
        <c:majorGridlines>
          <c:spPr>
            <a:ln w="6350" cap="flat">
              <a:solidFill>
                <a:srgbClr val="E4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8F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6AM</c:v>
                  </c:pt>
                  <c:pt idx="1">
                    <c:v>7AM</c:v>
                  </c:pt>
                  <c:pt idx="2">
                    <c:v>8AM</c:v>
                  </c:pt>
                  <c:pt idx="3">
                    <c:v>9AM</c:v>
                  </c:pt>
                  <c:pt idx="4">
                    <c:v>10AM</c:v>
                  </c:pt>
                  <c:pt idx="5">
                    <c:v>11AM</c:v>
                  </c:pt>
                  <c:pt idx="6">
                    <c:v>12PM</c:v>
                  </c:pt>
                  <c:pt idx="7">
                    <c:v>1PM</c:v>
                  </c:pt>
                  <c:pt idx="8">
                    <c:v>2PM</c:v>
                  </c:pt>
                  <c:pt idx="9">
                    <c:v>3PM</c:v>
                  </c:pt>
                  <c:pt idx="10">
                    <c:v>4PM</c:v>
                  </c:pt>
                  <c:pt idx="11">
                    <c:v>5PM</c:v>
                  </c:pt>
                  <c:pt idx="12">
                    <c:v>6PM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68</c:v>
                </c:pt>
                <c:pt idx="2">
                  <c:v>95</c:v>
                </c:pt>
                <c:pt idx="3">
                  <c:v>72</c:v>
                </c:pt>
                <c:pt idx="4">
                  <c:v>45</c:v>
                </c:pt>
                <c:pt idx="5">
                  <c:v>38</c:v>
                </c:pt>
                <c:pt idx="6">
                  <c:v>88</c:v>
                </c:pt>
                <c:pt idx="7">
                  <c:v>102</c:v>
                </c:pt>
                <c:pt idx="8">
                  <c:v>55</c:v>
                </c:pt>
                <c:pt idx="9">
                  <c:v>42</c:v>
                </c:pt>
                <c:pt idx="10">
                  <c:v>50</c:v>
                </c:pt>
                <c:pt idx="11">
                  <c:v>65</c:v>
                </c:pt>
                <c:pt idx="1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8F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R'000</c:v>
                </c:pt>
              </c:strCache>
            </c:strRef>
          </c:tx>
          <c:spPr>
            <a:solidFill>
              <a:srgbClr val="3D1F0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14.2</c:v>
                </c:pt>
                <c:pt idx="1">
                  <c:v>13.8</c:v>
                </c:pt>
                <c:pt idx="2">
                  <c:v>15.1</c:v>
                </c:pt>
                <c:pt idx="3">
                  <c:v>16.4</c:v>
                </c:pt>
                <c:pt idx="4">
                  <c:v>22</c:v>
                </c:pt>
                <c:pt idx="5">
                  <c:v>28.5</c:v>
                </c:pt>
                <c:pt idx="6">
                  <c:v>24.1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8F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7C74"/>
              </a:solidFill>
              <a:effectLst/>
            </c:spPr>
          </c:dPt>
          <c:dPt>
            <c:idx val="1"/>
            <c:bubble3D val="0"/>
            <c:spPr>
              <a:solidFill>
                <a:srgbClr val="B5651D"/>
              </a:solidFill>
              <a:effectLst/>
            </c:spPr>
          </c:dPt>
          <c:dPt>
            <c:idx val="2"/>
            <c:bubble3D val="0"/>
            <c:spPr>
              <a:solidFill>
                <a:srgbClr val="C8963E"/>
              </a:solidFill>
              <a:effectLst/>
            </c:spPr>
          </c:dPt>
          <c:dPt>
            <c:idx val="3"/>
            <c:bubble3D val="0"/>
            <c:spPr>
              <a:solidFill>
                <a:srgbClr val="3D1F0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Hot Beverages</c:v>
                </c:pt>
                <c:pt idx="1">
                  <c:v>Food</c:v>
                </c:pt>
                <c:pt idx="2">
                  <c:v>Cold Drinks</c:v>
                </c:pt>
                <c:pt idx="3">
                  <c:v>Merchandise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</c:v>
                </c:pt>
                <c:pt idx="1">
                  <c:v>25</c:v>
                </c:pt>
                <c:pt idx="2">
                  <c:v>18</c:v>
                </c:pt>
                <c:pt idx="3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BF8F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4389120" cy="4389120"/>
          </a:xfrm>
          <a:prstGeom prst="ellipse">
            <a:avLst/>
          </a:prstGeom>
          <a:solidFill>
            <a:srgbClr val="FFFFFF">
              <a:alpha val="4000"/>
            </a:srgbClr>
          </a:solidFill>
          <a:ln w="25400">
            <a:solidFill>
              <a:srgbClr val="C896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3474720" cy="347472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solidFill>
            <a:srgbClr val="C8963E">
              <a:alpha val="80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C1008"/>
                </a:solidFill>
              </a:rPr>
              <a:t>BRIGHT SELLO COFFEE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 Sales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</a:rPr>
              <a:t>Data-Driven Strategies to Grow Revenue,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</a:rPr>
              <a:t>Optimise Operations &amp; Delight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PREPARED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Team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77840" y="2148840"/>
            <a:ext cx="3200400" cy="18288"/>
          </a:xfrm>
          <a:prstGeom prst="rect">
            <a:avLst/>
          </a:prstGeom>
          <a:solidFill>
            <a:srgbClr val="C8963E">
              <a:alpha val="40000"/>
            </a:srgbClr>
          </a:solidFill>
          <a:ln w="12700">
            <a:solidFill>
              <a:srgbClr val="C8963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PERIOD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 – Dec 2024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3063240"/>
            <a:ext cx="3200400" cy="18288"/>
          </a:xfrm>
          <a:prstGeom prst="rect">
            <a:avLst/>
          </a:prstGeom>
          <a:solidFill>
            <a:srgbClr val="C8963E">
              <a:alpha val="40000"/>
            </a:srgbClr>
          </a:solidFill>
          <a:ln w="12700">
            <a:solidFill>
              <a:srgbClr val="C8963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8E7E"/>
                </a:solidFill>
              </a:rPr>
              <a:t>What we'll cover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109728" cy="1508760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3560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6928" y="1984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</a:rPr>
              <a:t>Overview &amp; Methodology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8E7E"/>
                </a:solidFill>
              </a:rPr>
              <a:t>Data sources, cleaning &amp; analytical frameworks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325880"/>
            <a:ext cx="109728" cy="150876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43560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01768" y="1984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</a:rPr>
              <a:t>Key Sales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01768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8E7E"/>
                </a:solidFill>
              </a:rPr>
              <a:t>Revenue trends, peak hours &amp; product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44952"/>
            <a:ext cx="109728" cy="150876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546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6928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087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8E7E"/>
                </a:solidFill>
              </a:rPr>
              <a:t>Marketing, stock &amp; product promotion strategy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044952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44952"/>
            <a:ext cx="109728" cy="1508760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1546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F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001768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01768" y="4087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8E7E"/>
                </a:solidFill>
              </a:rPr>
              <a:t>Automation, multi-location tracking &amp; loyalty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675120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60120"/>
            <a:ext cx="6675120" cy="54864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E7E"/>
                </a:solidFill>
              </a:rPr>
              <a:t>Full-Year Performance  —  Bright Sello Coffee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3017520" cy="1600200"/>
          </a:xfrm>
          <a:prstGeom prst="rect">
            <a:avLst/>
          </a:prstGeom>
          <a:solidFill>
            <a:srgbClr val="1C1008"/>
          </a:solidFill>
          <a:ln w="12700">
            <a:solidFill>
              <a:srgbClr val="C8963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301752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6733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1.24M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Total Annual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8E7E"/>
                </a:solidFill>
              </a:rPr>
              <a:t>+12% vs prior 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1170432"/>
            <a:ext cx="3017520" cy="1600200"/>
          </a:xfrm>
          <a:prstGeom prst="rect">
            <a:avLst/>
          </a:prstGeom>
          <a:solidFill>
            <a:srgbClr val="1C1008"/>
          </a:solidFill>
          <a:ln w="12700">
            <a:solidFill>
              <a:srgbClr val="0A7C7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170432"/>
            <a:ext cx="3017520" cy="64008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16733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48 732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7490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Total Transactions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523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8E7E"/>
                </a:solidFill>
              </a:rPr>
              <a:t>~133 per day avg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3017520" cy="1600200"/>
          </a:xfrm>
          <a:prstGeom prst="rect">
            <a:avLst/>
          </a:prstGeom>
          <a:solidFill>
            <a:srgbClr val="1C1008"/>
          </a:solidFill>
          <a:ln w="12700">
            <a:solidFill>
              <a:srgbClr val="B5651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99232"/>
            <a:ext cx="3017520" cy="64008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5021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25.44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Avg. Basket Value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52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8E7E"/>
                </a:solidFill>
              </a:rPr>
              <a:t>R2.10 above target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2999232"/>
            <a:ext cx="3017520" cy="1600200"/>
          </a:xfrm>
          <a:prstGeom prst="rect">
            <a:avLst/>
          </a:prstGeom>
          <a:solidFill>
            <a:srgbClr val="1C1008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11880" y="2999232"/>
            <a:ext cx="30175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49040" y="35021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7490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Customer Return Rate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4352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8E7E"/>
                </a:solidFill>
              </a:rPr>
              <a:t>Industry avg: 65%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228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spc="200" kern="0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903720" y="1325880"/>
            <a:ext cx="54864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13258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Revenue peaked in July (R 128K) — school holidays + promo bundles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03720" y="2258568"/>
            <a:ext cx="54864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2258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February lowest (R 78K) — slow-period opportunity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3191256"/>
            <a:ext cx="54864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31912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Weekends +34% over weekdays in transaction volume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03720" y="4123944"/>
            <a:ext cx="54864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41239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Weekday mornings (7–9 AM) show highest per-hour spend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REVENUE TREND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E7E"/>
                </a:solidFill>
              </a:rPr>
              <a:t>Jan – Dec 2024   |   R '000   |   Gross Sales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5486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A89C"/>
                </a:solidFill>
              </a:rPr>
              <a:t>R 78K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0" y="40233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E7E"/>
                </a:solidFill>
              </a:rPr>
              <a:t>Lowest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8E7E"/>
                </a:solidFill>
              </a:rPr>
              <a:t>(Feb)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24344" y="5486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E"/>
                </a:solidFill>
              </a:rPr>
              <a:t>R 1.24M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24344" y="40233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E7E"/>
                </a:solidFill>
              </a:rPr>
              <a:t>Full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56448" y="5486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A89C"/>
                </a:solidFill>
              </a:rPr>
              <a:t>R 128K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56448" y="40233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E7E"/>
                </a:solidFill>
              </a:rPr>
              <a:t>Highest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8E7E"/>
                </a:solidFill>
              </a:rPr>
              <a:t>(Jul)</a:t>
            </a:r>
            <a:endParaRPr lang="en-US" sz="8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74320" y="1024128"/>
          <a:ext cx="8595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164592" y="4572000"/>
            <a:ext cx="8979408" cy="475488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60857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💡  July's R128K peak was 64% higher than February's R78K low — a R50K swing driven by school-holiday footfall and a 2-for-1 bundle promotion.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TRADING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E7E"/>
                </a:solidFill>
              </a:rPr>
              <a:t>When do customers visit?  —  Hourly &amp; Daily demand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120640" cy="292608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TRANSACTIONS BY HOUR  (Weekday Average)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6032" y="1316736"/>
          <a:ext cx="5166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024128"/>
            <a:ext cx="3383280" cy="292608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50992" y="10515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REVENUE BY DAY OF WEEK  (Weekly Avg, R'000)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5559552" y="1316736"/>
          <a:ext cx="3410712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164592" y="4572000"/>
            <a:ext cx="8979408" cy="475488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60857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💡  Two peak windows: 8–9 AM (morning rush) &amp; 12–1 PM (lunch). Saturday peaks at R28.5K/week — 106% more than Monday.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E7E"/>
                </a:solidFill>
              </a:rPr>
              <a:t>Best-sellers &amp; revenue category mix  —  FY 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029200" cy="292608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TOP 5 BEST-SELLING PRODUCTS  (Units Sold)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5029200" cy="603504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91640"/>
            <a:ext cx="4389120" cy="201168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237744" cy="237744"/>
          </a:xfrm>
          <a:prstGeom prst="ellipse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Flat White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1490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7C74"/>
                </a:solidFill>
              </a:rPr>
              <a:t>9,840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75688"/>
            <a:ext cx="5029200" cy="603504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50008"/>
            <a:ext cx="3670981" cy="201168"/>
          </a:xfrm>
          <a:prstGeom prst="rect">
            <a:avLst/>
          </a:prstGeom>
          <a:solidFill>
            <a:srgbClr val="12A89C"/>
          </a:solidFill>
          <a:ln w="12700">
            <a:solidFill>
              <a:srgbClr val="12A8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67128"/>
            <a:ext cx="237744" cy="237744"/>
          </a:xfrm>
          <a:prstGeom prst="ellipse">
            <a:avLst/>
          </a:prstGeom>
          <a:solidFill>
            <a:srgbClr val="12A89C"/>
          </a:solidFill>
          <a:ln w="12700">
            <a:solidFill>
              <a:srgbClr val="12A8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67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Cappuccino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A89C"/>
                </a:solidFill>
              </a:rPr>
              <a:t>8,230 units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34056"/>
            <a:ext cx="5029200" cy="603504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08376"/>
            <a:ext cx="3407813" cy="201168"/>
          </a:xfrm>
          <a:prstGeom prst="rect">
            <a:avLst/>
          </a:prstGeom>
          <a:solidFill>
            <a:srgbClr val="2FA89C"/>
          </a:solidFill>
          <a:ln w="12700">
            <a:solidFill>
              <a:srgbClr val="2FA8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825496"/>
            <a:ext cx="237744" cy="237744"/>
          </a:xfrm>
          <a:prstGeom prst="ellipse">
            <a:avLst/>
          </a:prstGeom>
          <a:solidFill>
            <a:srgbClr val="2FA89C"/>
          </a:solidFill>
          <a:ln w="12700">
            <a:solidFill>
              <a:srgbClr val="2FA8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25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Latte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2807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A89C"/>
                </a:solidFill>
              </a:rPr>
              <a:t>7,640 units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92424"/>
            <a:ext cx="5029200" cy="603504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66744"/>
            <a:ext cx="2640609" cy="201168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83864"/>
            <a:ext cx="237744" cy="237744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3465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Chicken Wrap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3465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5,920 units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050792"/>
            <a:ext cx="5029200" cy="603504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325112"/>
            <a:ext cx="1984917" cy="2011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142232"/>
            <a:ext cx="237744" cy="237744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Banana Bread Slice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4123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963E"/>
                </a:solidFill>
              </a:rPr>
              <a:t>4,450 units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1024128"/>
            <a:ext cx="3493008" cy="292608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105156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REVENUE BY CATEGORY</a:t>
            </a:r>
            <a:endParaRPr lang="en-US" sz="10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376672" y="1316736"/>
          <a:ext cx="3657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164592" y="4572000"/>
            <a:ext cx="8979408" cy="475488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" y="460857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💡  Hot Beverages drive 52% of all revenue. Food at 25% is undermonetised — customers buying coffee are a ready market for food upsells.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UNDERPERFORMING PRODUCTS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8E7E"/>
                </a:solidFill>
              </a:rPr>
              <a:t>Opportunity map — products with high upside potential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24128"/>
            <a:ext cx="2295144" cy="347472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424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963E"/>
                </a:solidFill>
              </a:rPr>
              <a:t>PRODUCT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024128"/>
            <a:ext cx="1078992" cy="347472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2344" y="10424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963E"/>
                </a:solidFill>
              </a:rPr>
              <a:t>UNITS SOLD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0" y="1024128"/>
            <a:ext cx="1792224" cy="347472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10424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963E"/>
                </a:solidFill>
              </a:rPr>
              <a:t>OPPORTUNITY LEVEL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1024128"/>
            <a:ext cx="3026664" cy="347472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304" y="10424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963E"/>
                </a:solidFill>
              </a:rPr>
              <a:t>ROOT CAUSE / 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1435608"/>
            <a:ext cx="229514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1435608"/>
            <a:ext cx="1078992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435608"/>
            <a:ext cx="179222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435608"/>
            <a:ext cx="302666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4533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Matcha Latte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52344" y="154533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620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23360" y="1572768"/>
            <a:ext cx="1371600" cy="292608"/>
          </a:xfrm>
          <a:prstGeom prst="rect">
            <a:avLst/>
          </a:prstGeom>
          <a:solidFill>
            <a:srgbClr val="0A7C74">
              <a:alpha val="20000"/>
            </a:srgbClr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74"/>
                </a:solidFill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9592" y="152704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</a:rPr>
              <a:t>Low awareness; high margin — needs front-of-menu placement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" y="2093976"/>
            <a:ext cx="2295144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2093976"/>
            <a:ext cx="1078992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6200" y="2093976"/>
            <a:ext cx="1792224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2093976"/>
            <a:ext cx="3026664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20370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Seasonal Smoothie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52344" y="2203704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480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023360" y="2231136"/>
            <a:ext cx="1371600" cy="292608"/>
          </a:xfrm>
          <a:prstGeom prst="rect">
            <a:avLst/>
          </a:prstGeom>
          <a:solidFill>
            <a:srgbClr val="0A7C74">
              <a:alpha val="20000"/>
            </a:srgbClr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74"/>
                </a:solidFill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79592" y="2185416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</a:rPr>
              <a:t>Poor visibility on board — move to eye-level position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" y="2752344"/>
            <a:ext cx="229514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2752344"/>
            <a:ext cx="1078992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86200" y="2752344"/>
            <a:ext cx="179222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752344"/>
            <a:ext cx="302666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862072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Gluten-Free Muffin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52344" y="286207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310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023360" y="2889504"/>
            <a:ext cx="1371600" cy="292608"/>
          </a:xfrm>
          <a:prstGeom prst="rect">
            <a:avLst/>
          </a:prstGeom>
          <a:solidFill>
            <a:srgbClr val="C8963E">
              <a:alpha val="20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9592" y="2843784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</a:rPr>
              <a:t>Behind counter; add allergen callout + move to display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2608" y="3410712"/>
            <a:ext cx="2295144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3410712"/>
            <a:ext cx="1078992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86200" y="3410712"/>
            <a:ext cx="1792224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6440" y="3410712"/>
            <a:ext cx="3026664" cy="594360"/>
          </a:xfrm>
          <a:prstGeom prst="rect">
            <a:avLst/>
          </a:prstGeom>
          <a:solidFill>
            <a:srgbClr val="FBF8F3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2044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Iced Chai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52344" y="352044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290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023360" y="3547872"/>
            <a:ext cx="1371600" cy="292608"/>
          </a:xfrm>
          <a:prstGeom prst="rect">
            <a:avLst/>
          </a:prstGeom>
          <a:solidFill>
            <a:srgbClr val="C8963E">
              <a:alpha val="20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3547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</a:rPr>
              <a:t>MEDIUM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79592" y="350215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</a:rPr>
              <a:t>Zero social presence — launch Instagram feature campaign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" y="4069080"/>
            <a:ext cx="229514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97480" y="4069080"/>
            <a:ext cx="1078992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86200" y="4069080"/>
            <a:ext cx="179222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06440" y="4069080"/>
            <a:ext cx="3026664" cy="594360"/>
          </a:xfrm>
          <a:prstGeom prst="rect">
            <a:avLst/>
          </a:prstGeom>
          <a:solidFill>
            <a:srgbClr val="EEEAE4"/>
          </a:solidFill>
          <a:ln w="12700">
            <a:solidFill>
              <a:srgbClr val="DEDA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1788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Protein Wrap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52344" y="417880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210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023360" y="4206240"/>
            <a:ext cx="1371600" cy="292608"/>
          </a:xfrm>
          <a:prstGeom prst="rect">
            <a:avLst/>
          </a:prstGeom>
          <a:solidFill>
            <a:srgbClr val="0A7C74">
              <a:alpha val="20000"/>
            </a:srgbClr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74"/>
                </a:solidFill>
              </a:rPr>
              <a:t>HIGH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79592" y="41605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</a:rPr>
              <a:t>R89 price barrier — trial 15% intro discount for 4 weeks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4592" y="4572000"/>
            <a:ext cx="8979408" cy="475488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60857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💡  These 5 products represent an estimated R85K annual revenue opportunity if brought to average-performer levels through targeted action.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8E7E"/>
                </a:solidFill>
              </a:rPr>
              <a:t>Three strategic levers to accelerate growth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816352" cy="3767328"/>
          </a:xfrm>
          <a:prstGeom prst="rect">
            <a:avLst/>
          </a:prstGeom>
          <a:solidFill>
            <a:srgbClr val="1C1008"/>
          </a:solidFill>
          <a:ln w="12700">
            <a:solidFill>
              <a:srgbClr val="0A7C7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15568"/>
            <a:ext cx="2816352" cy="82296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234440"/>
            <a:ext cx="658368" cy="658368"/>
          </a:xfrm>
          <a:prstGeom prst="ellipse">
            <a:avLst/>
          </a:prstGeom>
          <a:solidFill>
            <a:srgbClr val="0A7C74">
              <a:alpha val="25000"/>
            </a:srgbClr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234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42032" y="1207008"/>
            <a:ext cx="475488" cy="256032"/>
          </a:xfrm>
          <a:prstGeom prst="rect">
            <a:avLst/>
          </a:prstGeom>
          <a:solidFill>
            <a:srgbClr val="0A7C74">
              <a:alpha val="20000"/>
            </a:srgbClr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070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C74"/>
                </a:solidFill>
              </a:rPr>
              <a:t>R1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1965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Slots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3192" y="2670048"/>
            <a:ext cx="2377440" cy="27432"/>
          </a:xfrm>
          <a:prstGeom prst="rect">
            <a:avLst/>
          </a:prstGeom>
          <a:solidFill>
            <a:srgbClr val="0A7C74">
              <a:alpha val="40000"/>
            </a:srgbClr>
          </a:solidFill>
          <a:ln w="12700">
            <a:solidFill>
              <a:srgbClr val="0A7C7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761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7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Run 'Happy Hour' deals — Tue &amp; Wed, 2–5 PM (lowest footfall window)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345643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7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WhatsApp/Instagram promos 30 min before each slow period begins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" y="415137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7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Bundle offer: Buy 2 drinks → food item at 30% off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36976" y="1115568"/>
            <a:ext cx="2816352" cy="3767328"/>
          </a:xfrm>
          <a:prstGeom prst="rect">
            <a:avLst/>
          </a:prstGeom>
          <a:solidFill>
            <a:srgbClr val="1C1008"/>
          </a:solidFill>
          <a:ln w="12700">
            <a:solidFill>
              <a:srgbClr val="C8963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36976" y="1115568"/>
            <a:ext cx="2816352" cy="82296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1234440"/>
            <a:ext cx="658368" cy="658368"/>
          </a:xfrm>
          <a:prstGeom prst="ellipse">
            <a:avLst/>
          </a:prstGeom>
          <a:solidFill>
            <a:srgbClr val="C8963E">
              <a:alpha val="25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234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522976" y="1207008"/>
            <a:ext cx="475488" cy="256032"/>
          </a:xfrm>
          <a:prstGeom prst="rect">
            <a:avLst/>
          </a:prstGeom>
          <a:solidFill>
            <a:srgbClr val="C8963E">
              <a:alpha val="20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2070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E"/>
                </a:solidFill>
              </a:rPr>
              <a:t>R2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4136" y="1965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Best-Sellers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374136" y="2670048"/>
            <a:ext cx="2377440" cy="27432"/>
          </a:xfrm>
          <a:prstGeom prst="rect">
            <a:avLst/>
          </a:prstGeom>
          <a:solidFill>
            <a:srgbClr val="C8963E">
              <a:alpha val="40000"/>
            </a:srgbClr>
          </a:solidFill>
          <a:ln w="12700">
            <a:solidFill>
              <a:srgbClr val="C8963E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2761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Increase Flat White &amp; Cappuccino bean stock +20% for weekends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74136" y="345643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Pre-prep Chicken Wraps from 11 AM to handle 12–1 PM lunch spike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74136" y="415137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Introduce a loyalty stamp card for all top-5 products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115568"/>
            <a:ext cx="2816352" cy="3767328"/>
          </a:xfrm>
          <a:prstGeom prst="rect">
            <a:avLst/>
          </a:prstGeom>
          <a:solidFill>
            <a:srgbClr val="1C1008"/>
          </a:solidFill>
          <a:ln w="12700">
            <a:solidFill>
              <a:srgbClr val="B5651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115568"/>
            <a:ext cx="2816352" cy="82296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1234440"/>
            <a:ext cx="658368" cy="658368"/>
          </a:xfrm>
          <a:prstGeom prst="ellipse">
            <a:avLst/>
          </a:prstGeom>
          <a:solidFill>
            <a:srgbClr val="B5651D">
              <a:alpha val="25000"/>
            </a:srgbClr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1234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503920" y="1207008"/>
            <a:ext cx="475488" cy="256032"/>
          </a:xfrm>
          <a:prstGeom prst="rect">
            <a:avLst/>
          </a:prstGeom>
          <a:solidFill>
            <a:srgbClr val="B5651D">
              <a:alpha val="20000"/>
            </a:srgbClr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120700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R3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965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 Low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355080" y="2670048"/>
            <a:ext cx="2377440" cy="27432"/>
          </a:xfrm>
          <a:prstGeom prst="rect">
            <a:avLst/>
          </a:prstGeom>
          <a:solidFill>
            <a:srgbClr val="B5651D">
              <a:alpha val="40000"/>
            </a:srgbClr>
          </a:solidFill>
          <a:ln w="12700">
            <a:solidFill>
              <a:srgbClr val="B5651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61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Matcha Latte &amp; Iced Chai as 'Barista's Pick' on board + social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45643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Move Gluten-Free Muffin to front counter with allergen signage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4151376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Trial 15% intro discount on Protein Wrap for 4 weeks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8E7E"/>
                </a:solidFill>
              </a:rPr>
              <a:t>Actionable roadmap — Q1 to Q2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8046720" cy="54864"/>
          </a:xfrm>
          <a:prstGeom prst="rect">
            <a:avLst/>
          </a:prstGeom>
          <a:solidFill>
            <a:srgbClr val="D8D0C8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097280"/>
            <a:ext cx="329184" cy="329184"/>
          </a:xfrm>
          <a:prstGeom prst="ellipse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1234440" cy="274320"/>
          </a:xfrm>
          <a:prstGeom prst="rect">
            <a:avLst/>
          </a:prstGeom>
          <a:solidFill>
            <a:srgbClr val="0A7C74">
              <a:alpha val="18000"/>
            </a:srgbClr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</a:rPr>
              <a:t>Month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788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C7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74520"/>
            <a:ext cx="2788920" cy="73152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93392"/>
            <a:ext cx="502920" cy="502920"/>
          </a:xfrm>
          <a:prstGeom prst="ellipse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19751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Automate Daily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Sales Reporting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468880" cy="27432"/>
          </a:xfrm>
          <a:prstGeom prst="rect">
            <a:avLst/>
          </a:prstGeom>
          <a:solidFill>
            <a:srgbClr val="E4DDD4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249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7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Connect POS → Google Sheets / Power BI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4107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7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Daily auto email summary to management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0965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74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Define KPIs: revenue, basket, transactions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15384" y="1097280"/>
            <a:ext cx="329184" cy="329184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1508760"/>
            <a:ext cx="1234440" cy="274320"/>
          </a:xfrm>
          <a:prstGeom prst="rect">
            <a:avLst/>
          </a:prstGeom>
          <a:solidFill>
            <a:srgbClr val="C8963E">
              <a:alpha val="18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</a:rPr>
              <a:t>Month 2–3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00984" y="1874520"/>
            <a:ext cx="2788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6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00984" y="1874520"/>
            <a:ext cx="2788920" cy="7315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38144" y="199339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50792" y="19751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Track Multi-Location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38144" y="2606040"/>
            <a:ext cx="2468880" cy="27432"/>
          </a:xfrm>
          <a:prstGeom prst="rect">
            <a:avLst/>
          </a:prstGeom>
          <a:solidFill>
            <a:srgbClr val="E4DDD4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8144" y="27249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63E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Standardise reporting across all branches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38144" y="34107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63E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Centralised dashboard with location filters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38144" y="40965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63E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Benchmark: revenue, top SKUs, peak hours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96328" y="1097280"/>
            <a:ext cx="329184" cy="329184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84848" y="1508760"/>
            <a:ext cx="1234440" cy="274320"/>
          </a:xfrm>
          <a:prstGeom prst="rect">
            <a:avLst/>
          </a:prstGeom>
          <a:solidFill>
            <a:srgbClr val="B5651D">
              <a:alpha val="18000"/>
            </a:srgbClr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</a:rPr>
              <a:t>Month 3–4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81928" y="1874520"/>
            <a:ext cx="2788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5651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81928" y="1874520"/>
            <a:ext cx="2788920" cy="73152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088" y="1993392"/>
            <a:ext cx="502920" cy="5029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31736" y="19751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Launch Loyalty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Programme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19088" y="2606040"/>
            <a:ext cx="2468880" cy="27432"/>
          </a:xfrm>
          <a:prstGeom prst="rect">
            <a:avLst/>
          </a:prstGeom>
          <a:solidFill>
            <a:srgbClr val="E4DDD4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27249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Tiered rewards tied to peak-hour patterns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19088" y="34107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Digital loyalty card (WhatsApp / app-based)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19088" y="409651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</a:rPr>
              <a:t>Pilot: top 500 customers → measure retention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64592" y="4572000"/>
            <a:ext cx="8979408" cy="475488"/>
          </a:xfrm>
          <a:prstGeom prst="rect">
            <a:avLst/>
          </a:prstGeom>
          <a:solidFill>
            <a:srgbClr val="1C1008"/>
          </a:solidFill>
          <a:ln w="12700">
            <a:solidFill>
              <a:srgbClr val="1C10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60857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🎯  All three workstreams can run concurrently from Month 2. CEO sign-off on loyalty programme design required by end of Month 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7315200" cy="73152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-182880"/>
            <a:ext cx="5943600" cy="59436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919472"/>
            <a:ext cx="8942832" cy="224028"/>
          </a:xfrm>
          <a:prstGeom prst="rect">
            <a:avLst/>
          </a:prstGeom>
          <a:solidFill>
            <a:srgbClr val="3D1F0D"/>
          </a:solidFill>
          <a:ln w="12700">
            <a:solidFill>
              <a:srgbClr val="3D1F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96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</a:rPr>
              <a:t>Bright Sello Coffee — Built on Data, Brewed with Purpose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2670048" cy="1371600"/>
          </a:xfrm>
          <a:prstGeom prst="rect">
            <a:avLst/>
          </a:prstGeom>
          <a:solidFill>
            <a:srgbClr val="3D1F0D"/>
          </a:solidFill>
          <a:ln w="12700">
            <a:solidFill>
              <a:srgbClr val="0A7C7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337560"/>
            <a:ext cx="2670048" cy="64008"/>
          </a:xfrm>
          <a:prstGeom prst="rect">
            <a:avLst/>
          </a:prstGeom>
          <a:solidFill>
            <a:srgbClr val="0A7C74"/>
          </a:solidFill>
          <a:ln w="12700">
            <a:solidFill>
              <a:srgbClr val="0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" y="34381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C74"/>
                </a:solidFill>
              </a:rPr>
              <a:t>Questions?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" y="39136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Reach the Analytics Team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55848" y="3337560"/>
            <a:ext cx="2670048" cy="1371600"/>
          </a:xfrm>
          <a:prstGeom prst="rect">
            <a:avLst/>
          </a:prstGeom>
          <a:solidFill>
            <a:srgbClr val="3D1F0D"/>
          </a:solidFill>
          <a:ln w="12700">
            <a:solidFill>
              <a:srgbClr val="C8963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3337560"/>
            <a:ext cx="2670048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3864" y="34381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63E"/>
                </a:solidFill>
              </a:rPr>
              <a:t>Next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83864" y="39136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Q1 2025 — March Board Meeting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08776" y="3337560"/>
            <a:ext cx="2670048" cy="1371600"/>
          </a:xfrm>
          <a:prstGeom prst="rect">
            <a:avLst/>
          </a:prstGeom>
          <a:solidFill>
            <a:srgbClr val="3D1F0D"/>
          </a:solidFill>
          <a:ln w="12700">
            <a:solidFill>
              <a:srgbClr val="B5651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3337560"/>
            <a:ext cx="2670048" cy="64008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6792" y="34381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Live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39136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go/brightlearn-dash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Sello Coffee – CEO Sales Insights</dc:title>
  <dc:subject>PptxGenJS Presentation</dc:subject>
  <dc:creator>PptxGenJS</dc:creator>
  <cp:lastModifiedBy>PptxGenJS</cp:lastModifiedBy>
  <cp:revision>1</cp:revision>
  <dcterms:created xsi:type="dcterms:W3CDTF">2026-03-31T08:10:47Z</dcterms:created>
  <dcterms:modified xsi:type="dcterms:W3CDTF">2026-03-31T08:10:47Z</dcterms:modified>
</cp:coreProperties>
</file>