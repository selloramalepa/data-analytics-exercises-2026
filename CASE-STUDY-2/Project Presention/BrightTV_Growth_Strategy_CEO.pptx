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1162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17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1E3A6A">
              <a:alpha val="60000"/>
            </a:srgbClr>
          </a:solidFill>
          <a:ln w="12700">
            <a:solidFill>
              <a:srgbClr val="1E3A6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0891B2">
              <a:alpha val="4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3840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STRATEGY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6B6D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Unlocking the Next Million Users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3063240"/>
            <a:ext cx="22860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Chief Executive Officer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&amp; Strategic Initiatives | 2026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STRATEGIC DOCUMENT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50292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0120" y="14173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Are Our Users?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audience profile &amp; key data insights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50292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6576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063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We're Missing Out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4747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segments &amp; whitespace opportunities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50292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754880" y="173736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49240" y="14173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Strategic Growth Initiatives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182880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actions to grow the user base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0233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502920" cy="14630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754880" y="338328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49240" y="306324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Roadmap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34747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plan &amp; quick wins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ARE OUR USERS?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Audience Profile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201168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743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Users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097280"/>
            <a:ext cx="2011680" cy="13716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608" y="11887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46888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25–34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246888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Age Group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2011680" cy="13716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18872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6344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Gauteng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466344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Province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858000" y="1097280"/>
            <a:ext cx="2011680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118872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58000" y="1600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17:00–21:00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685800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Viewing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274320" y="2377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by Age Group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274320" y="26974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25-34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1097280" y="2697480"/>
            <a:ext cx="4297680" cy="2560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18"/>
          <p:cNvSpPr/>
          <p:nvPr/>
        </p:nvSpPr>
        <p:spPr>
          <a:xfrm>
            <a:off x="5440680" y="26974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41.5%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274320" y="304495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35-44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1097280" y="3044952"/>
            <a:ext cx="2733946" cy="2560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1"/>
          <p:cNvSpPr/>
          <p:nvPr/>
        </p:nvSpPr>
        <p:spPr>
          <a:xfrm>
            <a:off x="3876946" y="304495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26.4%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274320" y="33924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18-24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1097280" y="3392424"/>
            <a:ext cx="1532667" cy="25603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4"/>
          <p:cNvSpPr/>
          <p:nvPr/>
        </p:nvSpPr>
        <p:spPr>
          <a:xfrm>
            <a:off x="2675667" y="33924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274320" y="373989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45-54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1097280" y="3739896"/>
            <a:ext cx="963095" cy="256032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27"/>
          <p:cNvSpPr/>
          <p:nvPr/>
        </p:nvSpPr>
        <p:spPr>
          <a:xfrm>
            <a:off x="2106095" y="3739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9.3%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274320" y="408736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0-17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1097280" y="4087368"/>
            <a:ext cx="559216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0"/>
          <p:cNvSpPr/>
          <p:nvPr/>
        </p:nvSpPr>
        <p:spPr>
          <a:xfrm>
            <a:off x="1702216" y="40873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5.4%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274320" y="44348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1097280" y="4434840"/>
            <a:ext cx="279608" cy="2560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3"/>
          <p:cNvSpPr/>
          <p:nvPr/>
        </p:nvSpPr>
        <p:spPr>
          <a:xfrm>
            <a:off x="1422608" y="44348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2.7%</a:t>
            </a:r>
            <a:endParaRPr lang="en-US" sz="900" dirty="0"/>
          </a:p>
        </p:txBody>
      </p:sp>
      <p:sp>
        <p:nvSpPr>
          <p:cNvPr id="40" name="Shape 34"/>
          <p:cNvSpPr/>
          <p:nvPr/>
        </p:nvSpPr>
        <p:spPr>
          <a:xfrm>
            <a:off x="5852160" y="2651760"/>
            <a:ext cx="29718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1" name="Text 35"/>
          <p:cNvSpPr/>
          <p:nvPr/>
        </p:nvSpPr>
        <p:spPr>
          <a:xfrm>
            <a:off x="5989320" y="2743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Provinces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5989320" y="3108960"/>
            <a:ext cx="109728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37"/>
          <p:cNvSpPr/>
          <p:nvPr/>
        </p:nvSpPr>
        <p:spPr>
          <a:xfrm>
            <a:off x="617220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7863840" y="3108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950" dirty="0"/>
          </a:p>
        </p:txBody>
      </p:sp>
      <p:sp>
        <p:nvSpPr>
          <p:cNvPr id="45" name="Shape 39"/>
          <p:cNvSpPr/>
          <p:nvPr/>
        </p:nvSpPr>
        <p:spPr>
          <a:xfrm>
            <a:off x="5989320" y="3566160"/>
            <a:ext cx="109728" cy="2743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6" name="Text 40"/>
          <p:cNvSpPr/>
          <p:nvPr/>
        </p:nvSpPr>
        <p:spPr>
          <a:xfrm>
            <a:off x="6172200" y="3566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</a:t>
            </a:r>
            <a:endParaRPr lang="en-US" sz="950" dirty="0"/>
          </a:p>
        </p:txBody>
      </p:sp>
      <p:sp>
        <p:nvSpPr>
          <p:cNvPr id="47" name="Text 41"/>
          <p:cNvSpPr/>
          <p:nvPr/>
        </p:nvSpPr>
        <p:spPr>
          <a:xfrm>
            <a:off x="7863840" y="3566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950" dirty="0"/>
          </a:p>
        </p:txBody>
      </p:sp>
      <p:sp>
        <p:nvSpPr>
          <p:cNvPr id="48" name="Shape 42"/>
          <p:cNvSpPr/>
          <p:nvPr/>
        </p:nvSpPr>
        <p:spPr>
          <a:xfrm>
            <a:off x="5989320" y="4023360"/>
            <a:ext cx="109728" cy="2743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3"/>
          <p:cNvSpPr/>
          <p:nvPr/>
        </p:nvSpPr>
        <p:spPr>
          <a:xfrm>
            <a:off x="6172200" y="4023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KwaZulu-Natal</a:t>
            </a:r>
            <a:endParaRPr lang="en-US" sz="950" dirty="0"/>
          </a:p>
        </p:txBody>
      </p:sp>
      <p:sp>
        <p:nvSpPr>
          <p:cNvPr id="50" name="Text 44"/>
          <p:cNvSpPr/>
          <p:nvPr/>
        </p:nvSpPr>
        <p:spPr>
          <a:xfrm>
            <a:off x="78638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50" dirty="0"/>
          </a:p>
        </p:txBody>
      </p:sp>
      <p:sp>
        <p:nvSpPr>
          <p:cNvPr id="51" name="Shape 4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2" name="Text 4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WE'RE MISSING OUT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Segments &amp; Whitespace Opportunities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23360" cy="1508760"/>
          </a:xfrm>
          <a:prstGeom prst="rect">
            <a:avLst/>
          </a:prstGeom>
          <a:solidFill>
            <a:srgbClr val="112244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1188720"/>
            <a:ext cx="402336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137160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Viewers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84632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13% of current viewership is female despite women making up 50%+ of SA population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2926080"/>
            <a:ext cx="4023360" cy="1508760"/>
          </a:xfrm>
          <a:prstGeom prst="rect">
            <a:avLst/>
          </a:prstGeom>
          <a:solidFill>
            <a:srgbClr val="112244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320040" y="2926080"/>
            <a:ext cx="40233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" y="31089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6012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2.7%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96012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Age Group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84632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audiences are severely underrepresented — a digitally growing demographic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09160" y="1188720"/>
            <a:ext cx="4023360" cy="1508760"/>
          </a:xfrm>
          <a:prstGeom prst="rect">
            <a:avLst/>
          </a:prstGeom>
          <a:solidFill>
            <a:srgbClr val="112244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4"/>
          <p:cNvSpPr/>
          <p:nvPr/>
        </p:nvSpPr>
        <p:spPr>
          <a:xfrm>
            <a:off x="4709160" y="1188720"/>
            <a:ext cx="40233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371600"/>
            <a:ext cx="384048" cy="38404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1325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5349240" y="1783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Rural Provinces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873752" y="2103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Cape, North West &amp; Free State are barely tapped — large untouched audiences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4709160" y="2926080"/>
            <a:ext cx="4023360" cy="1508760"/>
          </a:xfrm>
          <a:prstGeom prst="rect">
            <a:avLst/>
          </a:prstGeom>
          <a:solidFill>
            <a:srgbClr val="112244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4709160" y="2926080"/>
            <a:ext cx="4023360" cy="548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3108960"/>
            <a:ext cx="384048" cy="38404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4924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2200" dirty="0"/>
          </a:p>
        </p:txBody>
      </p:sp>
      <p:sp>
        <p:nvSpPr>
          <p:cNvPr id="27" name="Text 21"/>
          <p:cNvSpPr/>
          <p:nvPr/>
        </p:nvSpPr>
        <p:spPr>
          <a:xfrm>
            <a:off x="5349240" y="3520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Originals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873752" y="3840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dedicated content for under-24 age group despite 14.8% of current base being 18-24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777A8">
              <a:alpha val="50000"/>
            </a:srgbClr>
          </a:solidFill>
          <a:ln w="12700">
            <a:solidFill>
              <a:srgbClr val="0777A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5943600" y="2286000"/>
            <a:ext cx="3657600" cy="36576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STRATEGIC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 INITIATIVES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Data-backed strategies to expand BrightTV's user base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566160"/>
            <a:ext cx="27432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FEMALE AUDIENCE EXPANSION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dedicated programming to close the gender gap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560320" cy="3474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0D1B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3200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viewers are male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834640"/>
            <a:ext cx="1828800" cy="36576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20040" y="29718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10% increase in female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viewership = +87,000 users</a:t>
            </a:r>
            <a:endParaRPr lang="en-US" sz="10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566160"/>
            <a:ext cx="731520" cy="731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3063240" y="1097280"/>
            <a:ext cx="5760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3246120" y="12344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Actions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46120" y="1737360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3611880" y="1691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 &amp; Lifestyle Block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611880" y="19659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18:00-20:00 programming block — cooking, fashion, reality shows — targeting 25-44 female viewers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246120" y="2395728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7"/>
          <p:cNvSpPr/>
          <p:nvPr/>
        </p:nvSpPr>
        <p:spPr>
          <a:xfrm>
            <a:off x="3611880" y="23500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Women's Sport Coverage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611880" y="262432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SuperSport coverage to include women's leagues and female-focused athletics content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246120" y="3054096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3611880" y="300837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Female-Led Originals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611880" y="32826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2 original series with female leads in Drama and Comedy genres annually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246120" y="3712464"/>
            <a:ext cx="256032" cy="25603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3"/>
          <p:cNvSpPr/>
          <p:nvPr/>
        </p:nvSpPr>
        <p:spPr>
          <a:xfrm>
            <a:off x="3611880" y="366674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 + Africa Magic Boost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11880" y="39410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O &amp; Africa Magic already draw female audiences — increase investment in these channels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 &amp; DIGITAL GROWTH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mobile-native viewers — especially 18-34 year olds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Viewing Times (Sessions)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3931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457200" y="1735243"/>
            <a:ext cx="277368" cy="1145117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1148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853440" y="1538393"/>
            <a:ext cx="277368" cy="1341967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0772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12:00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1249680" y="1568027"/>
            <a:ext cx="277368" cy="1312333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120396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14:00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645920" y="1553210"/>
            <a:ext cx="277368" cy="132715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160020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16:00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2042160" y="1508760"/>
            <a:ext cx="277368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199644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2438400" y="1551093"/>
            <a:ext cx="277368" cy="1329267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239268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2834640" y="1510877"/>
            <a:ext cx="277368" cy="1369483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278892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19:00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3230880" y="1563793"/>
            <a:ext cx="277368" cy="1316567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318516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3627120" y="1642110"/>
            <a:ext cx="277368" cy="123825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3581400" y="2898648"/>
            <a:ext cx="356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21:00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74320" y="3319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Prime mobile engagement window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480560" y="1097280"/>
            <a:ext cx="43434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4663440" y="1234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Strategy Actions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63440" y="1792224"/>
            <a:ext cx="237744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010912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App Enhancement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10912" y="2011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for live events 15 min before prime time (17:00-21:00) to drive tune-in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487168"/>
            <a:ext cx="237744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5010912" y="24323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Content Hub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10912" y="2706624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3-5 min clip library on app &amp; social for Gen Z viewers (18-24) — sports highlights &amp; recaps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3182112"/>
            <a:ext cx="237744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5010912" y="3127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Integration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10912" y="34015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10,000+ social handles in database for targeted campaigns &amp; influencer partnerships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877056"/>
            <a:ext cx="237744" cy="23774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0" name="Text 38"/>
          <p:cNvSpPr/>
          <p:nvPr/>
        </p:nvSpPr>
        <p:spPr>
          <a:xfrm>
            <a:off x="5010912" y="38221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Viewing Mode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10912" y="40965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download-to-watch for data-constrained users in Limpopo, North West, and Free State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4320" y="3383280"/>
            <a:ext cx="3931920" cy="11887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93008"/>
            <a:ext cx="411480" cy="411480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960120" y="34564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&amp; Saturday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960120" y="37947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highest-traffic days (16-17% of weekly views) — ideal for exclusive digital drops and premieres</a:t>
            </a:r>
            <a:endParaRPr lang="en-US" sz="950" dirty="0"/>
          </a:p>
        </p:txBody>
      </p:sp>
      <p:sp>
        <p:nvSpPr>
          <p:cNvPr id="46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CONTENT &amp; RURAL EXPANSION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authentic local stories and reach underserved provinces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886968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Province Coverage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1430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Gauteng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691640" y="1179576"/>
            <a:ext cx="2926080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4663440" y="1143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0040" y="15087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Cape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91640" y="1545336"/>
            <a:ext cx="1344415" cy="20116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3081775" y="15087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040" y="18745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KwaZulu-Natal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691640" y="1911096"/>
            <a:ext cx="790832" cy="2011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2528192" y="18745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" y="22402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Mpumalanga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1691640" y="2276856"/>
            <a:ext cx="711749" cy="2011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2449109" y="22402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0040" y="2606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Limpopo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691640" y="2642616"/>
            <a:ext cx="632666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2370026" y="260604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20040" y="29718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Eastern Cape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691640" y="3008376"/>
            <a:ext cx="474499" cy="20116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2211859" y="29718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0040" y="333756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West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91640" y="3374136"/>
            <a:ext cx="276791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2014151" y="333756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20040" y="37033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State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691640" y="3739896"/>
            <a:ext cx="268883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2006243" y="37033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40690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Cape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691640" y="4105656"/>
            <a:ext cx="150258" cy="2011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1887618" y="406908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2004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Underserved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1097280"/>
            <a:ext cx="4251960" cy="3749040"/>
          </a:xfrm>
          <a:prstGeom prst="rect">
            <a:avLst/>
          </a:prstGeom>
          <a:solidFill>
            <a:srgbClr val="0D2040"/>
          </a:solidFill>
          <a:ln w="12700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754880" y="1234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Actions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54880" y="178308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4919472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Language Programming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19472" y="20299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dedicated Zulu, Sepedi &amp; Tswana content blocks targeting KZN, Limpopo and North West viewers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54880" y="251460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2" name="Text 40"/>
          <p:cNvSpPr/>
          <p:nvPr/>
        </p:nvSpPr>
        <p:spPr>
          <a:xfrm>
            <a:off x="4919472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Sports Coverage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19472" y="276148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soccer &amp; rugby leagues in rural provinces — 16x and 17x cricket was top content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24612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4919472" y="32004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Township Talent Pipeline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919472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'BrightTV Discovers' — a reality format sourcing emerging talent from non-Gauteng provinces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54880" y="3977640"/>
            <a:ext cx="54864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8" name="Text 46"/>
          <p:cNvSpPr/>
          <p:nvPr/>
        </p:nvSpPr>
        <p:spPr>
          <a:xfrm>
            <a:off x="4919472" y="39319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ISP &amp; MVNO Partnerships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919472" y="422452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BrightTV access with rural mobile data packages (MTN, Telkom) to remove access barriers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SPORTS &amp; LIVE EVENT AMPLIFICATION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is the single biggest content category — lean into it harder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097280"/>
            <a:ext cx="2103120" cy="1554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32004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32.6%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ICC Cricket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(#1 Channel)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1097280"/>
            <a:ext cx="2103120" cy="1554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65176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16.6%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65176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Events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83480" y="1097280"/>
            <a:ext cx="2103120" cy="15544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98348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983480" y="1920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Blitz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69480" y="1097280"/>
            <a:ext cx="1554480" cy="1554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269480" y="1280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269480" y="182880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views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sports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788920"/>
            <a:ext cx="8503920" cy="3200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457200" y="2816352"/>
            <a:ext cx="82296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Amplify Sports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24612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320040" y="3246120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572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Local League Rights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 broadcast rights to PSL (Premier Soccer League) &amp; Proteas matches to lock in existing sports fans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0040" y="39776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320040" y="3977640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572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Party Feature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synchronized viewing for major events with real-time social feed — converts solo to social viewing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09160" y="324612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4709160" y="3246120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84632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Betting &amp; Stats Integration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sports betting platform for live odds widgets (25-34 male core audience monetisation)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09160" y="3977640"/>
            <a:ext cx="4114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4" name="Shape 32"/>
          <p:cNvSpPr/>
          <p:nvPr/>
        </p:nvSpPr>
        <p:spPr>
          <a:xfrm>
            <a:off x="4709160" y="3977640"/>
            <a:ext cx="54864" cy="59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484632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Match Studio Shows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2519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programming 30 min before/after major sports events to extend viewing sessions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502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PERSONALISATION &amp; USER RETENTION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our rich data asset to personalise and retain every user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2926080" cy="3657600"/>
          </a:xfrm>
          <a:prstGeom prst="rect">
            <a:avLst/>
          </a:prstGeom>
          <a:solidFill>
            <a:srgbClr val="0A1836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2588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20116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 Asset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51460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777240" y="24688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viewing records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02920" y="292608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777240" y="288036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age, gender &amp; location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02920" y="333756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777240" y="3291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preferences by segment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374904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777240" y="37033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handles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02920" y="4160520"/>
            <a:ext cx="164592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777240" y="411480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&amp; daily patterns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74720" y="1143000"/>
            <a:ext cx="5349240" cy="3657600"/>
          </a:xfrm>
          <a:prstGeom prst="rect">
            <a:avLst/>
          </a:prstGeom>
          <a:solidFill>
            <a:srgbClr val="0D1B3E"/>
          </a:solidFill>
          <a:ln w="12700">
            <a:solidFill>
              <a:srgbClr val="1E3A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Text 18"/>
          <p:cNvSpPr/>
          <p:nvPr/>
        </p:nvSpPr>
        <p:spPr>
          <a:xfrm>
            <a:off x="3657600" y="12801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Personalisation Actions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657600" y="1792224"/>
            <a:ext cx="237744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4005072" y="17556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Engine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005072" y="20482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personalised content based on age, province, and viewing history — increase session duration by 20%+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3657600" y="2523744"/>
            <a:ext cx="237744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3"/>
          <p:cNvSpPr/>
          <p:nvPr/>
        </p:nvSpPr>
        <p:spPr>
          <a:xfrm>
            <a:off x="4005072" y="24871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Push Campaigns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005072" y="277977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18-24s with music/social content (Trace TV, Vuzu), 35-44s with news (CNN) &amp; family content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657600" y="3255264"/>
            <a:ext cx="237744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6"/>
          <p:cNvSpPr/>
          <p:nvPr/>
        </p:nvSpPr>
        <p:spPr>
          <a:xfrm>
            <a:off x="4005072" y="321868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Rewards Program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4005072" y="351129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Points — earned per hour watched, redeemable for data bundles or exclusive merchandise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657600" y="3986784"/>
            <a:ext cx="237744" cy="23774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29"/>
          <p:cNvSpPr/>
          <p:nvPr/>
        </p:nvSpPr>
        <p:spPr>
          <a:xfrm>
            <a:off x="4005072" y="39502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Model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005072" y="424281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users with declining engagement early and trigger re-engagement campaigns with personalised offers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Implementation Plan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27432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Q1–Q2 2026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1945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58952" y="21488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Sports social media push (Fri/Sat prime)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84632" y="2816352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58952" y="277063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personalised push notifications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" y="3438144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758952" y="339242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women's reality/lifestyle pilot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84632" y="4059936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758952" y="401421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rural province audience database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3246120" y="1143000"/>
            <a:ext cx="27432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3246120" y="1170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461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Q3–Q4 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461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0712" y="2194560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4" name="Text 22"/>
          <p:cNvSpPr/>
          <p:nvPr/>
        </p:nvSpPr>
        <p:spPr>
          <a:xfrm>
            <a:off x="3685032" y="21488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BrightTV app update with recommendations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10712" y="2816352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3685032" y="277063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local soccer league broadcast rights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410712" y="3438144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3685032" y="339242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'BrightTV Discovers' rural talent show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410712" y="4059936"/>
            <a:ext cx="201168" cy="2011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3685032" y="401421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loyalty points programme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72200" y="114300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2" name="Shape 30"/>
          <p:cNvSpPr/>
          <p:nvPr/>
        </p:nvSpPr>
        <p:spPr>
          <a:xfrm>
            <a:off x="6172200" y="1143000"/>
            <a:ext cx="2743200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6172200" y="117043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7220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2027+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7220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36792" y="21945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6611112" y="2148840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churn prediction model live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336792" y="281635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6611112" y="2770632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Northern Cape &amp; North West markets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336792" y="343814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6611112" y="3392424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women's sports block partnership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336792" y="40599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6611112" y="4014216"/>
            <a:ext cx="2176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BrightTV Original Series premiere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Growth Strategy  |  2026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1A3A6B">
              <a:alpha val="60000"/>
            </a:srgbClr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Shape 1"/>
          <p:cNvSpPr/>
          <p:nvPr/>
        </p:nvSpPr>
        <p:spPr>
          <a:xfrm>
            <a:off x="6858000" y="-1828800"/>
            <a:ext cx="4572000" cy="4572000"/>
          </a:xfrm>
          <a:prstGeom prst="ellipse">
            <a:avLst/>
          </a:prstGeom>
          <a:solidFill>
            <a:srgbClr val="0891B2">
              <a:alpha val="35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457200" y="5486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 IS NOW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BrightTV has rich data, an engaged core audience, and clear whitespace to grow.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508760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Female Audience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21408" y="2103120"/>
            <a:ext cx="15087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2121408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Mobile &amp; Digital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85616" y="2103120"/>
            <a:ext cx="1508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3785616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Local Content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49824" y="2103120"/>
            <a:ext cx="1508760" cy="5029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449824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Sports Amplification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114032" y="2103120"/>
            <a:ext cx="1508760" cy="5029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7114032" y="210312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Personalisation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86000" y="2834640"/>
            <a:ext cx="45720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focused investment across these 5 initiatives,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BrightTV can double its active user base within 24 months.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BrightTV  |  Confidential Strategic Document  | 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1061</Words>
  <Application>Microsoft Office PowerPoint</Application>
  <PresentationFormat>On-screen Show (16:9)</PresentationFormat>
  <Paragraphs>238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BrightTV Growth Strategy</dc:title>
  <dc:subject>PptxGenJS Presentation</dc:subject>
  <dc:creator>PptxGenJS</dc:creator>
  <cp:lastModifiedBy>Lawrence Ramalepa</cp:lastModifiedBy>
  <cp:revision>1</cp:revision>
  <dcterms:created xsi:type="dcterms:W3CDTF">2026-04-12T11:58:47Z</dcterms:created>
  <dcterms:modified xsi:type="dcterms:W3CDTF">2026-04-17T07:13:34Z</dcterms:modified>
</cp:coreProperties>
</file>